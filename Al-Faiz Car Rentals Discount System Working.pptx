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/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/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/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-1" fmla="*/ 1421452 w 4517331"/>
              <a:gd name="connsiteY0-2" fmla="*/ 0 h 713930"/>
              <a:gd name="connsiteX1-3" fmla="*/ 3247781 w 4517331"/>
              <a:gd name="connsiteY1-4" fmla="*/ 271915 h 713930"/>
              <a:gd name="connsiteX2-5" fmla="*/ 4517331 w 4517331"/>
              <a:gd name="connsiteY2-6" fmla="*/ 693394 h 713930"/>
              <a:gd name="connsiteX3-7" fmla="*/ 0 w 4517331"/>
              <a:gd name="connsiteY3-8" fmla="*/ 713930 h 713930"/>
              <a:gd name="connsiteX4-9" fmla="*/ 2854 w 4517331"/>
              <a:gd name="connsiteY4-10" fmla="*/ 705624 h 713930"/>
              <a:gd name="connsiteX5-11" fmla="*/ 226680 w 4517331"/>
              <a:gd name="connsiteY5-12" fmla="*/ 333970 h 713930"/>
              <a:gd name="connsiteX6-13" fmla="*/ 1160245 w 4517331"/>
              <a:gd name="connsiteY6-14" fmla="*/ 1178 h 713930"/>
              <a:gd name="connsiteX7-15" fmla="*/ 1421452 w 4517331"/>
              <a:gd name="connsiteY7-16" fmla="*/ 0 h 713930"/>
              <a:gd name="connsiteX0-17" fmla="*/ 0 w 4608771"/>
              <a:gd name="connsiteY0-18" fmla="*/ 713930 h 784834"/>
              <a:gd name="connsiteX1-19" fmla="*/ 2854 w 4608771"/>
              <a:gd name="connsiteY1-20" fmla="*/ 705624 h 784834"/>
              <a:gd name="connsiteX2-21" fmla="*/ 226680 w 4608771"/>
              <a:gd name="connsiteY2-22" fmla="*/ 333970 h 784834"/>
              <a:gd name="connsiteX3-23" fmla="*/ 1160245 w 4608771"/>
              <a:gd name="connsiteY3-24" fmla="*/ 1178 h 784834"/>
              <a:gd name="connsiteX4-25" fmla="*/ 1421452 w 4608771"/>
              <a:gd name="connsiteY4-26" fmla="*/ 0 h 784834"/>
              <a:gd name="connsiteX5-27" fmla="*/ 3247781 w 4608771"/>
              <a:gd name="connsiteY5-28" fmla="*/ 271915 h 784834"/>
              <a:gd name="connsiteX6-29" fmla="*/ 4608771 w 4608771"/>
              <a:gd name="connsiteY6-30" fmla="*/ 784834 h 784834"/>
              <a:gd name="connsiteX0-31" fmla="*/ 0 w 4418271"/>
              <a:gd name="connsiteY0-32" fmla="*/ 713930 h 718159"/>
              <a:gd name="connsiteX1-33" fmla="*/ 2854 w 4418271"/>
              <a:gd name="connsiteY1-34" fmla="*/ 705624 h 718159"/>
              <a:gd name="connsiteX2-35" fmla="*/ 226680 w 4418271"/>
              <a:gd name="connsiteY2-36" fmla="*/ 333970 h 718159"/>
              <a:gd name="connsiteX3-37" fmla="*/ 1160245 w 4418271"/>
              <a:gd name="connsiteY3-38" fmla="*/ 1178 h 718159"/>
              <a:gd name="connsiteX4-39" fmla="*/ 1421452 w 4418271"/>
              <a:gd name="connsiteY4-40" fmla="*/ 0 h 718159"/>
              <a:gd name="connsiteX5-41" fmla="*/ 3247781 w 4418271"/>
              <a:gd name="connsiteY5-42" fmla="*/ 271915 h 718159"/>
              <a:gd name="connsiteX6-43" fmla="*/ 4418271 w 4418271"/>
              <a:gd name="connsiteY6-44" fmla="*/ 718159 h 7181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0" y="1524000"/>
            <a:ext cx="4572000" cy="2286000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Al-Faiz Car Rentals Discount System</a:t>
            </a:r>
            <a:endParaRPr lang="en-GB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0" y="4571999"/>
            <a:ext cx="4572000" cy="1524000"/>
          </a:xfrm>
        </p:spPr>
        <p:txBody>
          <a:bodyPr>
            <a:normAutofit fontScale="92500"/>
          </a:bodyPr>
          <a:lstStyle/>
          <a:p>
            <a:pPr algn="l"/>
            <a:r>
              <a:rPr lang="en-US" dirty="0"/>
              <a:t>Discount Program for Different Rental Categories</a:t>
            </a:r>
            <a:br>
              <a:rPr lang="en-US" dirty="0"/>
            </a:br>
            <a:r>
              <a:rPr lang="en-US" dirty="0"/>
              <a:t>by: Ehtesham, Alishba, and Maraij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24968" r="6234"/>
          <a:stretch>
            <a:fillRect/>
          </a:stretch>
        </p:blipFill>
        <p:spPr>
          <a:xfrm>
            <a:off x="-8" y="762006"/>
            <a:ext cx="5948805" cy="6095979"/>
          </a:xfrm>
          <a:custGeom>
            <a:avLst/>
            <a:gdLst/>
            <a:ahLst/>
            <a:cxnLst/>
            <a:rect l="l" t="t" r="r" b="b"/>
            <a:pathLst>
              <a:path w="5948805" h="6095979">
                <a:moveTo>
                  <a:pt x="1573832" y="765"/>
                </a:moveTo>
                <a:cubicBezTo>
                  <a:pt x="1940190" y="-10734"/>
                  <a:pt x="2329345" y="109280"/>
                  <a:pt x="2734663" y="238687"/>
                </a:cubicBezTo>
                <a:cubicBezTo>
                  <a:pt x="4118244" y="680647"/>
                  <a:pt x="5296697" y="1302752"/>
                  <a:pt x="5668316" y="3639516"/>
                </a:cubicBezTo>
                <a:cubicBezTo>
                  <a:pt x="5788298" y="4393559"/>
                  <a:pt x="5890546" y="5142244"/>
                  <a:pt x="5937022" y="5865869"/>
                </a:cubicBezTo>
                <a:lnTo>
                  <a:pt x="5948805" y="6095979"/>
                </a:lnTo>
                <a:lnTo>
                  <a:pt x="0" y="6095979"/>
                </a:lnTo>
                <a:lnTo>
                  <a:pt x="0" y="1621672"/>
                </a:lnTo>
                <a:lnTo>
                  <a:pt x="36310" y="1518814"/>
                </a:lnTo>
                <a:cubicBezTo>
                  <a:pt x="109805" y="1321982"/>
                  <a:pt x="192755" y="1133640"/>
                  <a:pt x="287891" y="956872"/>
                </a:cubicBezTo>
                <a:cubicBezTo>
                  <a:pt x="669453" y="247734"/>
                  <a:pt x="1102800" y="15549"/>
                  <a:pt x="1573832" y="765"/>
                </a:cubicBezTo>
                <a:close/>
              </a:path>
            </a:pathLst>
          </a:custGeom>
        </p:spPr>
      </p:pic>
      <p:sp>
        <p:nvSpPr>
          <p:cNvPr id="11" name="Freeform: Shap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223838" y="538152"/>
            <a:ext cx="6095989" cy="654368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-1" fmla="*/ 0 w 4033589"/>
              <a:gd name="connsiteY0-2" fmla="*/ 6858000 h 6858000"/>
              <a:gd name="connsiteX1-3" fmla="*/ 1878934 w 4033589"/>
              <a:gd name="connsiteY1-4" fmla="*/ 0 h 6858000"/>
              <a:gd name="connsiteX2-5" fmla="*/ 1882313 w 4033589"/>
              <a:gd name="connsiteY2-6" fmla="*/ 2021 h 6858000"/>
              <a:gd name="connsiteX3-7" fmla="*/ 3475371 w 4033589"/>
              <a:gd name="connsiteY3-8" fmla="*/ 1517967 h 6858000"/>
              <a:gd name="connsiteX4-9" fmla="*/ 3975977 w 4033589"/>
              <a:gd name="connsiteY4-10" fmla="*/ 4379386 h 6858000"/>
              <a:gd name="connsiteX5-11" fmla="*/ 3312864 w 4033589"/>
              <a:gd name="connsiteY5-12" fmla="*/ 6852362 h 6858000"/>
              <a:gd name="connsiteX6-13" fmla="*/ 3310593 w 4033589"/>
              <a:gd name="connsiteY6-14" fmla="*/ 6858000 h 6858000"/>
              <a:gd name="connsiteX7-15" fmla="*/ 0 w 4033589"/>
              <a:gd name="connsiteY7-16" fmla="*/ 6858000 h 6858000"/>
              <a:gd name="connsiteX0-17" fmla="*/ 1787494 w 3942149"/>
              <a:gd name="connsiteY0-18" fmla="*/ 0 h 6949440"/>
              <a:gd name="connsiteX1-19" fmla="*/ 1790873 w 3942149"/>
              <a:gd name="connsiteY1-20" fmla="*/ 2021 h 6949440"/>
              <a:gd name="connsiteX2-21" fmla="*/ 3383931 w 3942149"/>
              <a:gd name="connsiteY2-22" fmla="*/ 1517967 h 6949440"/>
              <a:gd name="connsiteX3-23" fmla="*/ 3884537 w 3942149"/>
              <a:gd name="connsiteY3-24" fmla="*/ 4379386 h 6949440"/>
              <a:gd name="connsiteX4-25" fmla="*/ 3221424 w 3942149"/>
              <a:gd name="connsiteY4-26" fmla="*/ 6852362 h 6949440"/>
              <a:gd name="connsiteX5-27" fmla="*/ 3219153 w 3942149"/>
              <a:gd name="connsiteY5-28" fmla="*/ 6858000 h 6949440"/>
              <a:gd name="connsiteX6-29" fmla="*/ 0 w 3942149"/>
              <a:gd name="connsiteY6-30" fmla="*/ 6949440 h 6949440"/>
              <a:gd name="connsiteX0-31" fmla="*/ 1787494 w 3942149"/>
              <a:gd name="connsiteY0-32" fmla="*/ 0 h 6949440"/>
              <a:gd name="connsiteX1-33" fmla="*/ 1790873 w 3942149"/>
              <a:gd name="connsiteY1-34" fmla="*/ 2021 h 6949440"/>
              <a:gd name="connsiteX2-35" fmla="*/ 3383931 w 3942149"/>
              <a:gd name="connsiteY2-36" fmla="*/ 1517967 h 6949440"/>
              <a:gd name="connsiteX3-37" fmla="*/ 3884537 w 3942149"/>
              <a:gd name="connsiteY3-38" fmla="*/ 4379386 h 6949440"/>
              <a:gd name="connsiteX4-39" fmla="*/ 3221424 w 3942149"/>
              <a:gd name="connsiteY4-40" fmla="*/ 6852362 h 6949440"/>
              <a:gd name="connsiteX5-41" fmla="*/ 3219153 w 3942149"/>
              <a:gd name="connsiteY5-42" fmla="*/ 6858000 h 6949440"/>
              <a:gd name="connsiteX6-43" fmla="*/ 0 w 3942149"/>
              <a:gd name="connsiteY6-44" fmla="*/ 6949440 h 6949440"/>
              <a:gd name="connsiteX0-45" fmla="*/ 0 w 2154655"/>
              <a:gd name="connsiteY0-46" fmla="*/ 0 h 6858000"/>
              <a:gd name="connsiteX1-47" fmla="*/ 3379 w 2154655"/>
              <a:gd name="connsiteY1-48" fmla="*/ 2021 h 6858000"/>
              <a:gd name="connsiteX2-49" fmla="*/ 1596437 w 2154655"/>
              <a:gd name="connsiteY2-50" fmla="*/ 1517967 h 6858000"/>
              <a:gd name="connsiteX3-51" fmla="*/ 2097043 w 2154655"/>
              <a:gd name="connsiteY3-52" fmla="*/ 4379386 h 6858000"/>
              <a:gd name="connsiteX4-53" fmla="*/ 1433930 w 2154655"/>
              <a:gd name="connsiteY4-54" fmla="*/ 6852362 h 6858000"/>
              <a:gd name="connsiteX5-55" fmla="*/ 1431659 w 2154655"/>
              <a:gd name="connsiteY5-56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Al-Faiz Car Rentals offers discounts based on various factors.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calculates discounts for different rental categories.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fair price  for customers.</a:t>
            </a: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Health and Wellness Discounts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Discounts provided based on relation to the customer:</a:t>
            </a:r>
            <a:endParaRPr lang="en-US" dirty="0"/>
          </a:p>
          <a:p>
            <a:pPr lvl="1"/>
            <a:r>
              <a:rPr lang="en-US" dirty="0"/>
              <a:t>Parent: 75% discount, 50% covered by RIPHAH.</a:t>
            </a:r>
            <a:endParaRPr lang="en-US" dirty="0"/>
          </a:p>
          <a:p>
            <a:pPr lvl="1"/>
            <a:r>
              <a:rPr lang="en-US" dirty="0"/>
              <a:t>Spouse/Child: 30% discount, 15% covered by RIPHAH.</a:t>
            </a:r>
            <a:endParaRPr lang="en-US" dirty="0"/>
          </a:p>
          <a:p>
            <a:pPr lvl="1"/>
            <a:r>
              <a:rPr lang="en-US" dirty="0"/>
              <a:t>Sibling: 10% discount, no coverage from RIPHAH.</a:t>
            </a:r>
            <a:endParaRPr lang="en-US" dirty="0"/>
          </a:p>
          <a:p>
            <a:pPr lvl="1"/>
            <a:r>
              <a:rPr lang="en-US" dirty="0"/>
              <a:t>Others: No discount.</a:t>
            </a: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Academic and Educational Discounts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Discounts based on category, rental type, and university:</a:t>
            </a:r>
            <a:endParaRPr lang="en-US" b="1" dirty="0"/>
          </a:p>
          <a:p>
            <a:pPr lvl="1"/>
            <a:r>
              <a:rPr lang="en-US" b="1" dirty="0"/>
              <a:t>Workshops/Conferences:</a:t>
            </a:r>
            <a:endParaRPr lang="en-US" b="1" dirty="0"/>
          </a:p>
          <a:p>
            <a:pPr lvl="2"/>
            <a:r>
              <a:rPr lang="en-US" b="1" dirty="0"/>
              <a:t>Off-city: </a:t>
            </a:r>
            <a:r>
              <a:rPr lang="en-US" dirty="0"/>
              <a:t>20% discount.</a:t>
            </a:r>
            <a:endParaRPr lang="en-US" dirty="0"/>
          </a:p>
          <a:p>
            <a:pPr lvl="2"/>
            <a:r>
              <a:rPr lang="en-US" b="1" dirty="0"/>
              <a:t>On-city: </a:t>
            </a:r>
            <a:r>
              <a:rPr lang="en-US" dirty="0"/>
              <a:t>10% discount.</a:t>
            </a:r>
            <a:endParaRPr lang="en-US" dirty="0"/>
          </a:p>
          <a:p>
            <a:pPr lvl="1"/>
            <a:r>
              <a:rPr lang="en-US" b="1" dirty="0"/>
              <a:t>Field Trips: </a:t>
            </a:r>
            <a:r>
              <a:rPr lang="en-US" dirty="0"/>
              <a:t>30% discount if the university is non-local.</a:t>
            </a:r>
            <a:endParaRPr lang="en-US" dirty="0"/>
          </a:p>
          <a:p>
            <a:pPr lvl="1"/>
            <a:r>
              <a:rPr lang="en-US" b="1" dirty="0"/>
              <a:t>Programming Club: </a:t>
            </a:r>
            <a:r>
              <a:rPr lang="en-US" dirty="0"/>
              <a:t>30% discount.</a:t>
            </a:r>
            <a:endParaRPr lang="en-US" dirty="0"/>
          </a:p>
          <a:p>
            <a:pPr lvl="1"/>
            <a:r>
              <a:rPr lang="en-US" b="1" dirty="0"/>
              <a:t>Pharmacy Club/MS Club/Event Society: </a:t>
            </a:r>
            <a:r>
              <a:rPr lang="en-US" dirty="0"/>
              <a:t>20% discount.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Recreational and Adventure Discounts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Discounts based on role:</a:t>
            </a:r>
            <a:endParaRPr lang="en-US" dirty="0"/>
          </a:p>
          <a:p>
            <a:pPr lvl="1"/>
            <a:r>
              <a:rPr lang="en-US" dirty="0"/>
              <a:t>Students and employees: 40% discount.</a:t>
            </a:r>
            <a:endParaRPr lang="en-US" dirty="0"/>
          </a:p>
          <a:p>
            <a:pPr lvl="1"/>
            <a:r>
              <a:rPr lang="en-US" dirty="0"/>
              <a:t>The final rental cost is calculated accordingly.</a:t>
            </a:r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Sports Discounts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Discounts based on event type: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Off-city events:</a:t>
            </a:r>
            <a:r>
              <a:rPr lang="en-US" dirty="0"/>
              <a:t> 50% discount.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On-city events:</a:t>
            </a:r>
            <a:r>
              <a:rPr lang="en-US" dirty="0"/>
              <a:t> 30% discount.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final rental cost is adjusted accordingly.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Family and Social Discounts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Discounts based on role, event type, and location: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Students:</a:t>
            </a:r>
            <a:r>
              <a:rPr lang="en-US" dirty="0"/>
              <a:t> 15% discount.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Faculty:</a:t>
            </a:r>
            <a:r>
              <a:rPr lang="en-US" dirty="0"/>
              <a:t> 25% discount.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Employees:</a:t>
            </a:r>
            <a:r>
              <a:rPr lang="en-US" dirty="0"/>
              <a:t> 20% discount.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Community service (off-city):</a:t>
            </a:r>
            <a:r>
              <a:rPr lang="en-US" dirty="0"/>
              <a:t> 30% discount.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Charity events (off-city):</a:t>
            </a:r>
            <a:r>
              <a:rPr lang="en-US" dirty="0"/>
              <a:t> 35% discount.</a:t>
            </a:r>
            <a:endParaRPr lang="en-US" dirty="0"/>
          </a:p>
          <a:p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System Implementation (C++ Program)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is implemented in C++.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functions to calculate discounts dynamically.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Implements a structured rental selection process.</a:t>
            </a: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 User Interaction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Users select a rental category.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provide relevant information (relation, event type, role, etc.).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calculates and displays the discounted price.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discount system ensures fair pricing for eligible customers.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structured and efficient calculations.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Enhances affordability and accessibility for different user groups.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AnalogousFromLightSeedLeftStep">
      <a:dk1>
        <a:srgbClr val="000000"/>
      </a:dk1>
      <a:lt1>
        <a:srgbClr val="FFFFFF"/>
      </a:lt1>
      <a:dk2>
        <a:srgbClr val="412429"/>
      </a:dk2>
      <a:lt2>
        <a:srgbClr val="E2E8E8"/>
      </a:lt2>
      <a:accent1>
        <a:srgbClr val="C69697"/>
      </a:accent1>
      <a:accent2>
        <a:srgbClr val="BA7F98"/>
      </a:accent2>
      <a:accent3>
        <a:srgbClr val="C493BD"/>
      </a:accent3>
      <a:accent4>
        <a:srgbClr val="AA7FBA"/>
      </a:accent4>
      <a:accent5>
        <a:srgbClr val="A696C6"/>
      </a:accent5>
      <a:accent6>
        <a:srgbClr val="7F84BA"/>
      </a:accent6>
      <a:hlink>
        <a:srgbClr val="568D8D"/>
      </a:hlink>
      <a:folHlink>
        <a:srgbClr val="7F7F7F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1888</Words>
  <Application>WPS Presentation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Avenir Next LT Pro</vt:lpstr>
      <vt:lpstr>Avenir Next LT Pro Light</vt:lpstr>
      <vt:lpstr>Yu Gothic UI</vt:lpstr>
      <vt:lpstr>Segoe Print</vt:lpstr>
      <vt:lpstr>Sitka Subheading</vt:lpstr>
      <vt:lpstr>Microsoft YaHei</vt:lpstr>
      <vt:lpstr>Arial Unicode MS</vt:lpstr>
      <vt:lpstr>Calibri</vt:lpstr>
      <vt:lpstr>PebbleVTI</vt:lpstr>
      <vt:lpstr>Al-Faiz Car Rentals Discount System</vt:lpstr>
      <vt:lpstr>Introduction</vt:lpstr>
      <vt:lpstr>Health and Wellness Discounts</vt:lpstr>
      <vt:lpstr>Academic and Educational Discounts</vt:lpstr>
      <vt:lpstr>Recreational and Adventure Discounts</vt:lpstr>
      <vt:lpstr>Sports Discounts</vt:lpstr>
      <vt:lpstr>Family and Social Discounts</vt:lpstr>
      <vt:lpstr>System Implementation (C++ Program)</vt:lpstr>
      <vt:lpstr>Example User Interaction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Ehtesham ul haq</dc:creator>
  <cp:lastModifiedBy>Alishba Murtaza</cp:lastModifiedBy>
  <cp:revision>2</cp:revision>
  <dcterms:created xsi:type="dcterms:W3CDTF">2025-02-05T21:04:00Z</dcterms:created>
  <dcterms:modified xsi:type="dcterms:W3CDTF">2025-02-06T05:58:09Z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7973498F8CCB4D7DAB9EBFBDD24A361A_12</vt:lpwstr>
  </property>
  <property fmtid="{D5CDD505-2E9C-101B-9397-08002B2CF9AE}" pid="3" name="KSOProductBuildVer">
    <vt:lpwstr>1033-12.2.0.19805</vt:lpwstr>
  </property>
</Properties>
</file>